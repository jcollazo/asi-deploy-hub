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2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468880"/>
            <a:ext cx="8531352" cy="38100"/>
          </a:xfrm>
          <a:prstGeom prst="rect">
            <a:avLst/>
          </a:prstGeom>
          <a:solidFill>
            <a:srgbClr val="E5B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914400"/>
            <a:ext cx="8531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FBIB Deploy Hub</a:t>
            </a:r>
          </a:p>
          <a:p>
            <a:pPr>
              <a:defRPr sz="2200">
                <a:solidFill>
                  <a:srgbClr val="E5BD44"/>
                </a:solidFill>
              </a:defRPr>
            </a:pPr>
            <a:r>
              <a:t>Arquitectura del Sistema de Integración Gubernamental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5313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AEC1E1"/>
                </a:solidFill>
              </a:defRPr>
            </a:pPr>
            <a:r>
              <a:t>Oficina de Gerencia y Presupuesto</a:t>
            </a:r>
          </a:p>
          <a:p>
            <a:pPr>
              <a:defRPr sz="1600">
                <a:solidFill>
                  <a:srgbClr val="6C757D"/>
                </a:solidFill>
              </a:defRPr>
            </a:pPr>
            <a:r>
              <a:t>Gobierno de Puerto Rico</a:t>
            </a:r>
          </a:p>
          <a:p>
            <a:pPr>
              <a:defRPr sz="1300">
                <a:solidFill>
                  <a:srgbClr val="6C757D"/>
                </a:solidFill>
              </a:defRPr>
            </a:pPr>
            <a:r>
              <a:t>Junio 2026 | v2.0 — UKG Dual Mode (API Key + RICE Reports)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303520"/>
            <a:ext cx="85313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C757D"/>
                </a:solidFill>
              </a:defRPr>
            </a:pPr>
            <a:r>
              <a:t>CONFIDENCIAL — Solo para uso interno del Gobierno de Puerto Rico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2223A"/>
                </a:solidFill>
              </a:defRPr>
            </a:pPr>
            <a:r>
              <a:t>Índice de Diagramas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60120"/>
            <a:ext cx="4572000" cy="38100"/>
          </a:xfrm>
          <a:prstGeom prst="rect">
            <a:avLst/>
          </a:prstGeom>
          <a:solidFill>
            <a:srgbClr val="E5B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03.  System Overview — Visión General del Sistema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01 System Overview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04.  Data Flow — Flujo Diario por Agencia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02 Data Flow   Diario (Por Agencia)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05.  Agent Internals — Estados y Lógica Interna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03 Agent Internals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06.  Portal Admin — API Endpoints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04 Portal Admin   Endpoints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07.  Configuración por Agencia — UKG Dual Mode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05 Configuración Por Agencia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08.  UKG Dual Mode — API Key vs Username/Password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06 Ukg Dual Mode   Api Key Vs Username Pass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09.  Login Flow — Autenticación Boomi-Style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07 Login Flow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10.  Agent Deployment Lifecycle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08 Agent Deployment Lifecycle</a:t>
            </a:r>
          </a:p>
          <a:p>
            <a:pPr>
              <a:spcAft>
                <a:spcPts val="200"/>
              </a:spcAft>
              <a:defRPr sz="1500">
                <a:solidFill>
                  <a:srgbClr val="212529"/>
                </a:solidFill>
              </a:defRPr>
            </a:pPr>
            <a:r>
              <a:t>11.  Comparativa Boomi vs FBIB Deploy Hub</a:t>
            </a:r>
          </a:p>
          <a:p>
            <a:pPr>
              <a:spcAft>
                <a:spcPts val="1000"/>
              </a:spcAft>
              <a:defRPr sz="900">
                <a:solidFill>
                  <a:srgbClr val="6C757D"/>
                </a:solidFill>
              </a:defRPr>
            </a:pPr>
            <a:r>
              <a:t>      09 Comparativa Boomi Vs Fbib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03. System Overview — Visión General del Sistema</a:t>
            </a:r>
          </a:p>
        </p:txBody>
      </p:sp>
      <p:pic>
        <p:nvPicPr>
          <p:cNvPr id="4" name="Picture 3" descr="01-syste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" y="731520"/>
            <a:ext cx="11704320" cy="41419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04. Data Flow — Flujo Diario por Agencia</a:t>
            </a:r>
          </a:p>
        </p:txBody>
      </p:sp>
      <p:pic>
        <p:nvPicPr>
          <p:cNvPr id="4" name="Picture 3" descr="02-data_flow_-_diario_(por_agencia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923" y="731520"/>
            <a:ext cx="6411105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05. Agent Internals — Estados y Lógica Interna</a:t>
            </a:r>
          </a:p>
        </p:txBody>
      </p:sp>
      <p:pic>
        <p:nvPicPr>
          <p:cNvPr id="4" name="Picture 3" descr="03-agent_inter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695" y="731520"/>
            <a:ext cx="4541561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06. Portal Admin — API Endpoints</a:t>
            </a:r>
          </a:p>
        </p:txBody>
      </p:sp>
      <p:pic>
        <p:nvPicPr>
          <p:cNvPr id="4" name="Picture 3" descr="04-portal_admin_-_end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00" y="731520"/>
            <a:ext cx="10570752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07. Configuración por Agencia — UKG Dual Mode</a:t>
            </a:r>
          </a:p>
        </p:txBody>
      </p:sp>
      <p:pic>
        <p:nvPicPr>
          <p:cNvPr id="4" name="Picture 3" descr="05-configuración_por_a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752" y="731520"/>
            <a:ext cx="6493448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08. UKG Dual Mode — API Key vs Username/Password</a:t>
            </a:r>
          </a:p>
        </p:txBody>
      </p:sp>
      <p:pic>
        <p:nvPicPr>
          <p:cNvPr id="4" name="Picture 3" descr="06-ukg_dual_mode_-_api_key_vs_username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645" y="731520"/>
            <a:ext cx="3799661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09. Login Flow — Autenticación Boomi-Style</a:t>
            </a:r>
          </a:p>
        </p:txBody>
      </p:sp>
      <p:pic>
        <p:nvPicPr>
          <p:cNvPr id="4" name="Picture 3" descr="07-logi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789" y="731520"/>
            <a:ext cx="8893374" cy="5669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10. Agent Deployment Lifecycle</a:t>
            </a:r>
          </a:p>
        </p:txBody>
      </p:sp>
      <p:pic>
        <p:nvPicPr>
          <p:cNvPr id="4" name="Picture 3" descr="08-agent_deployment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159" y="731520"/>
            <a:ext cx="2628634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  11. Comparativa Boomi vs FBIB Deploy Hub</a:t>
            </a:r>
          </a:p>
        </p:txBody>
      </p:sp>
      <p:pic>
        <p:nvPicPr>
          <p:cNvPr id="4" name="Picture 3" descr="09-comparativa_boomi_vs_fb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" y="731520"/>
            <a:ext cx="11704320" cy="11565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C757D"/>
                </a:solidFill>
              </a:defRPr>
            </a:pPr>
            <a:r>
              <a:t>FBIB Deploy Hub | Oficina de Gerencia y Presupuesto | Gobierno de PR | 11/11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2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3200400"/>
            <a:ext cx="6702552" cy="38100"/>
          </a:xfrm>
          <a:prstGeom prst="rect">
            <a:avLst/>
          </a:prstGeom>
          <a:solidFill>
            <a:srgbClr val="E5B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31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FBIB Deploy Hub</a:t>
            </a:r>
          </a:p>
          <a:p>
            <a:pPr algn="ctr">
              <a:defRPr sz="2800">
                <a:solidFill>
                  <a:srgbClr val="E5BD44"/>
                </a:solidFill>
              </a:defRPr>
            </a:pPr>
            <a:r>
              <a:t>¿Preguntas?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840480"/>
            <a:ext cx="6702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EC1E1"/>
                </a:solidFill>
              </a:defRPr>
            </a:pPr>
            <a:r>
              <a:t>Oficina de Gerencia y Presupuesto</a:t>
            </a:r>
          </a:p>
          <a:p>
            <a:pPr algn="ctr">
              <a:defRPr sz="1400">
                <a:solidFill>
                  <a:srgbClr val="6C757D"/>
                </a:solidFill>
              </a:defRPr>
            </a:pPr>
            <a:r>
              <a:t>Gobierno de Puerto Rico</a:t>
            </a:r>
          </a:p>
          <a:p>
            <a:pPr algn="ctr">
              <a:defRPr sz="1200">
                <a:solidFill>
                  <a:srgbClr val="6C757D"/>
                </a:solidFill>
              </a:defRPr>
            </a:pPr>
            <a:r>
              <a:t>Junio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